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E3C48-5109-4843-BE19-03C5DDE8CF38}">
  <a:tblStyle styleId="{565E3C48-5109-4843-BE19-03C5DDE8CF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2" Type="http://schemas.openxmlformats.org/officeDocument/2006/relationships/image" Target="../media/image12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00588" y="2007840"/>
            <a:ext cx="6590823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PREMIER LEAGUE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90349" y="3036540"/>
            <a:ext cx="1041130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National Player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8000" y="4255740"/>
            <a:ext cx="6096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Lato Light"/>
                <a:ea typeface="Lato Light"/>
                <a:cs typeface="Lato Light"/>
                <a:sym typeface="Lato Light"/>
              </a:rPr>
              <a:t>글로벌 프리미어 리그 국가별 선수 전적 데이터 플랫폼 기획안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1287"/>
            <a:ext cx="52387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81287"/>
            <a:ext cx="52387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07181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글로벌 인재의 허브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6623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프리미어 리그는 외국인 선수 비중이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72.1%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에 달하는 전 세계 축구의 각축장입니다. 총 시장 가치 125억 유로를 상회하는 거대한 데이터를 보유하고 있습니다.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307181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데이터의 지표화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6623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단순한 전적을 넘어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국적별 활약상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을 입체적으로 조명합니다. 국가별 기여도와 선수 개개인의 성과를 연결하는 통합 포털을 지향합니다.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VISION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975"/>
            <a:ext cx="349254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66975"/>
            <a:ext cx="349254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66975"/>
            <a:ext cx="3492549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04875" y="3609975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04875" y="4200525"/>
            <a:ext cx="28257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리그 전체 현황 및 실시간 주요 국가별 외국인 선수 점유율 요약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83174" y="3609975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Explorer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83174" y="4200525"/>
            <a:ext cx="28257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6대륙 및 전 세계 국가별 상세 전적과 국가 랭킹 탐색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61474" y="3609975"/>
            <a:ext cx="296708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Matrix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61474" y="4200525"/>
            <a:ext cx="28257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선수 간 성능 매트릭스 및 포지션별 정교한 레이더 차트 분석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847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8479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28479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MENU ARCHITECTURE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7620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GLOBAL PULSE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74307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인터랙티브 시각화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476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메인 페이지는 전 세계 지도를 기반으로 한 단계구분도(Choropleth Map)를 제공합니다. 마우스 호버 시 해당 국가의 선수 수, 합산 득점, 평균 평점을 즉각적으로 노출합니다.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3771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다크 모드 기반의 현대적인 UI로 데이터 가독성을 극대화하여 핵심 지표에 집중할 수 있는 환경을 구축합니다.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17"/>
          <p:cNvGraphicFramePr/>
          <p:nvPr/>
        </p:nvGraphicFramePr>
        <p:xfrm>
          <a:off x="571500" y="2338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{565E3C48-5109-4843-BE19-03C5DDE8CF38}</a:tableStyleId>
              </a:tblPr>
              <a:tblGrid>
                <a:gridCol w="2288075"/>
                <a:gridCol w="1968550"/>
                <a:gridCol w="2215900"/>
                <a:gridCol w="2133450"/>
                <a:gridCol w="2443025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국적 (Nation)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선수 수 (Count)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평균 평점 (Rating)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합산 득점 (Goals)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주요 클럽 (Top Club)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브라질 (Brazil)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38명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Manchester 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프랑스 (France)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Chelsea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노르웨이 (Norway)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Manchester 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대한민국 (South Korea)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Tottenham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7"/>
          <p:cNvSpPr/>
          <p:nvPr/>
        </p:nvSpPr>
        <p:spPr>
          <a:xfrm>
            <a:off x="571500" y="2995612"/>
            <a:ext cx="228808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859583" y="2995612"/>
            <a:ext cx="196854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828133" y="2995612"/>
            <a:ext cx="22159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044035" y="2995612"/>
            <a:ext cx="213345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9177486" y="2995612"/>
            <a:ext cx="244301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3629025"/>
            <a:ext cx="2288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859583" y="3629025"/>
            <a:ext cx="19685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828133" y="3629025"/>
            <a:ext cx="22159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044035" y="3629025"/>
            <a:ext cx="21334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177486" y="3629025"/>
            <a:ext cx="2443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248150"/>
            <a:ext cx="2288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859583" y="4248150"/>
            <a:ext cx="19685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828133" y="4248150"/>
            <a:ext cx="22159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044035" y="4248150"/>
            <a:ext cx="21334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177486" y="4248150"/>
            <a:ext cx="2443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867275"/>
            <a:ext cx="2288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59583" y="4867275"/>
            <a:ext cx="19685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828133" y="4867275"/>
            <a:ext cx="22159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044035" y="4867275"/>
            <a:ext cx="21334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177486" y="4867275"/>
            <a:ext cx="2443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5486400"/>
            <a:ext cx="2288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859583" y="5486400"/>
            <a:ext cx="19685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828133" y="5486400"/>
            <a:ext cx="22159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044035" y="5486400"/>
            <a:ext cx="21334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9177486" y="5486400"/>
            <a:ext cx="2443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NATIONAL DASHBOARD METRICS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776412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275" y="1785937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381750" y="227171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다차원 성능 비교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0" y="28622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최대 5명의 선수를 선택하여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레이더 차트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기반의 상세 비교를 수행합니다.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81750" y="47672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WhoScored와 Sofascore의 평점 알고리즘을 벤치마킹한 고유 모델을 적용합니다.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48450" y="3662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62750" y="36623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공격: xG(기대 득점), 슈팅 정확도, 결정적 기회 창출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48450" y="3967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762750" y="3967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수비: 태클 성공률, 가로채기, 공중볼 경합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48450" y="4271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762750" y="42719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빌드업: 패스 성공률, 전진 드리블 횟수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PERFORMANCE MATRIX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6519"/>
            <a:ext cx="3492549" cy="352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56519"/>
            <a:ext cx="3492549" cy="352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56519"/>
            <a:ext cx="3492549" cy="352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2299394"/>
            <a:ext cx="3206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2674" y="2299394"/>
            <a:ext cx="3206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0974" y="2299394"/>
            <a:ext cx="3206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14375" y="4347269"/>
            <a:ext cx="33671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Physical Profile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14375" y="4899719"/>
            <a:ext cx="320679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고강도 주행(HI) 거리와 스프린트 횟수 등 피지컬 데이터 분석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492674" y="4347269"/>
            <a:ext cx="33671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Workforce Diversity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492674" y="4899719"/>
            <a:ext cx="320679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선수단 및 코칭 스태프의 인종적 배경과 다양성 추적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270974" y="4347269"/>
            <a:ext cx="336713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Market Dynamics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270974" y="4899719"/>
            <a:ext cx="320679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시장 가치와 실제 성과 간의 상관관계 및 이적 성공률 분석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900" y="2308919"/>
            <a:ext cx="31877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02199" y="2308919"/>
            <a:ext cx="31877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0499" y="2308919"/>
            <a:ext cx="318774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ADVANCED DATA INSIGHTS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22669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리그 내 국적별 선수 수 (2025/26 시즌 예시)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TOP CONTRIBUTING NATIONS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571500" y="43767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10733" y="487203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1990s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54625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스칸디나비아 유입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리그 초창기 글로벌화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3383413" y="252888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2000s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444180" y="31194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프랑스 '아스널' 전성기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기술적 혁신 가속화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256094" y="487203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2010s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316860" y="54625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스페인 티키타카 도입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전술적 다양성 확보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128774" y="2528887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2020s+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89541" y="31194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글로벌 데이터 허브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국가별 전적 통합 관리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LEGACY &amp; ROADMAP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1672530" y="4281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45210" y="4281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417891" y="4281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0290571" y="42814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295275" y="571500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19075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감사합니다. 프리미어 리그 데이터의 새로운 가치를 창출합니다.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324981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www.pl-analytics.pro | contact@pl-analytics.pro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571500" y="186332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28461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36309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441573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283666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283666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36214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36214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4062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44062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51909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1500" y="51909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18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666875" y="200620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https://static.vecteezy.com/system/resources/previews/057/707/677/large_2x/digital-world-map-with-global-connectivity-and-network-visualization-showcasing-illuminated-nodes-and-lines-representing-data-flow-and-communication-across-continents-photo.JPG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24500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95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666875" y="298906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https://cdn.dribbble.com/userupload/45921229/file/83e30e75aeafd9b04cd513f668073ecc.png?resize=752x&amp;vertical=center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66875" y="323477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803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666875" y="377383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https://static.vecteezy.com/system/resources/previews/065/837/486/large_2x/soccer-player-running-with-the-ball-on-a-green-field-action-shot-with-motion-blur-photo.jpeg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666875" y="40195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651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666875" y="455860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https://images.stockcake.com/public/9/d/0/9d001ef8-45de-46e1-b7ef-e4aae7f19132_large/unity-through-diversity-stockcake.jpg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666875" y="480432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269" name="Google Shape;2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4992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666875" y="53433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https://img.freepik.com/free-vector/financial-stock-market-statics-graph-with-upward-growth_1017-53624.jpg?semt=ais_hybrid&amp;w=740&amp;q=80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666875" y="55890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